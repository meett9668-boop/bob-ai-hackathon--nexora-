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1"/>
        </a:solidFill>
        <a:effectLst/>
      </p:bgPr>
    </p:bg>
    <p:spTree>
      <p:nvGrpSpPr>
        <p:cNvPr id="1" name=""/>
        <p:cNvGrpSpPr/>
        <p:nvPr/>
      </p:nvGrpSpPr>
      <p:grpSpPr/>
      <p:sp>
        <p:nvSpPr>
          <p:cNvPr id="2" name="TextBox 1"/>
          <p:cNvSpPr txBox="1"/>
          <p:nvPr/>
        </p:nvSpPr>
        <p:spPr>
          <a:xfrm>
            <a:off x="685800" y="685800"/>
            <a:ext cx="5486400" cy="640080"/>
          </a:xfrm>
          <a:prstGeom prst="rect">
            <a:avLst/>
          </a:prstGeom>
          <a:noFill/>
        </p:spPr>
        <p:txBody>
          <a:bodyPr wrap="square">
            <a:spAutoFit/>
          </a:bodyPr>
          <a:lstStyle/>
          <a:p>
            <a:pPr algn="l"/>
            <a:r>
              <a:rPr sz="3800" b="1">
                <a:solidFill>
                  <a:srgbClr val="1B6741"/>
                </a:solidFill>
                <a:latin typeface="Aptos"/>
              </a:rPr>
              <a:t>NEXORA</a:t>
            </a:r>
          </a:p>
        </p:txBody>
      </p:sp>
      <p:sp>
        <p:nvSpPr>
          <p:cNvPr id="3" name="TextBox 2"/>
          <p:cNvSpPr txBox="1"/>
          <p:nvPr/>
        </p:nvSpPr>
        <p:spPr>
          <a:xfrm>
            <a:off x="685800" y="1417320"/>
            <a:ext cx="6583680" cy="914400"/>
          </a:xfrm>
          <a:prstGeom prst="rect">
            <a:avLst/>
          </a:prstGeom>
          <a:noFill/>
        </p:spPr>
        <p:txBody>
          <a:bodyPr wrap="square">
            <a:spAutoFit/>
          </a:bodyPr>
          <a:lstStyle/>
          <a:p>
            <a:pPr algn="l"/>
            <a:r>
              <a:rPr sz="3000" b="1">
                <a:solidFill>
                  <a:srgbClr val="233029"/>
                </a:solidFill>
                <a:latin typeface="Aptos"/>
              </a:rPr>
              <a:t>AI-Powered Power Grid Intelligence</a:t>
            </a:r>
          </a:p>
        </p:txBody>
      </p:sp>
      <p:sp>
        <p:nvSpPr>
          <p:cNvPr id="4" name="TextBox 3"/>
          <p:cNvSpPr txBox="1"/>
          <p:nvPr/>
        </p:nvSpPr>
        <p:spPr>
          <a:xfrm>
            <a:off x="713232" y="2514600"/>
            <a:ext cx="5029200" cy="640080"/>
          </a:xfrm>
          <a:prstGeom prst="rect">
            <a:avLst/>
          </a:prstGeom>
          <a:noFill/>
        </p:spPr>
        <p:txBody>
          <a:bodyPr wrap="square">
            <a:spAutoFit/>
          </a:bodyPr>
          <a:lstStyle/>
          <a:p>
            <a:pPr algn="l"/>
            <a:r>
              <a:rPr sz="1700" b="1">
                <a:solidFill>
                  <a:srgbClr val="1B6741"/>
                </a:solidFill>
                <a:latin typeface="Aptos"/>
              </a:rPr>
              <a:t>Team: NEXORA
Track: AI</a:t>
            </a:r>
          </a:p>
        </p:txBody>
      </p:sp>
      <p:sp>
        <p:nvSpPr>
          <p:cNvPr id="5" name="TextBox 4"/>
          <p:cNvSpPr txBox="1"/>
          <p:nvPr/>
        </p:nvSpPr>
        <p:spPr>
          <a:xfrm>
            <a:off x="594360" y="6510528"/>
            <a:ext cx="10972800" cy="182880"/>
          </a:xfrm>
          <a:prstGeom prst="rect">
            <a:avLst/>
          </a:prstGeom>
          <a:noFill/>
        </p:spPr>
        <p:txBody>
          <a:bodyPr wrap="square">
            <a:spAutoFit/>
          </a:bodyPr>
          <a:lstStyle/>
          <a:p>
            <a:pPr algn="l"/>
            <a:r>
              <a:rPr sz="800" b="0">
                <a:solidFill>
                  <a:srgbClr val="4D5F54"/>
                </a:solidFill>
                <a:latin typeface="Aptos"/>
              </a:rPr>
              <a:t>NEXORA • AI-Powered Power Grid Intelligence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1"/>
        </a:solidFill>
        <a:effectLst/>
      </p:bgPr>
    </p:bg>
    <p:spTree>
      <p:nvGrpSpPr>
        <p:cNvPr id="1" name=""/>
        <p:cNvGrpSpPr/>
        <p:nvPr/>
      </p:nvGrpSpPr>
      <p:grpSpPr/>
      <p:sp>
        <p:nvSpPr>
          <p:cNvPr id="2" name="TextBox 1"/>
          <p:cNvSpPr txBox="1"/>
          <p:nvPr/>
        </p:nvSpPr>
        <p:spPr>
          <a:xfrm>
            <a:off x="594360" y="411480"/>
            <a:ext cx="10972800" cy="640080"/>
          </a:xfrm>
          <a:prstGeom prst="rect">
            <a:avLst/>
          </a:prstGeom>
          <a:noFill/>
        </p:spPr>
        <p:txBody>
          <a:bodyPr wrap="square">
            <a:spAutoFit/>
          </a:bodyPr>
          <a:lstStyle/>
          <a:p>
            <a:pPr algn="l"/>
            <a:r>
              <a:rPr sz="2800" b="1">
                <a:solidFill>
                  <a:srgbClr val="1B6741"/>
                </a:solidFill>
                <a:latin typeface="Aptos"/>
              </a:rPr>
              <a:t>Problem — Power Outage Prediction &amp; Grid Equipment Failure Advisor</a:t>
            </a:r>
          </a:p>
        </p:txBody>
      </p:sp>
      <p:sp>
        <p:nvSpPr>
          <p:cNvPr id="3" name="TextBox 2"/>
          <p:cNvSpPr txBox="1"/>
          <p:nvPr/>
        </p:nvSpPr>
        <p:spPr>
          <a:xfrm>
            <a:off x="731520" y="1325880"/>
            <a:ext cx="10789920" cy="4297680"/>
          </a:xfrm>
          <a:prstGeom prst="rect">
            <a:avLst/>
          </a:prstGeom>
          <a:noFill/>
        </p:spPr>
        <p:txBody>
          <a:bodyPr wrap="square">
            <a:spAutoFit/>
          </a:bodyPr>
          <a:lstStyle/>
          <a:p>
            <a:pPr algn="l"/>
            <a:r>
              <a:rPr sz="1800" b="0">
                <a:solidFill>
                  <a:srgbClr val="233029"/>
                </a:solidFill>
                <a:latin typeface="Aptos"/>
              </a:rPr>
              <a:t>Power distribution networks depend on critical equipment such as transformers, substations and feeders. Unexpected failures and outages can interrupt service, increase maintenance effort, damage equipment and reduce grid reliability.
Who has it?
Grid operators, maintenance teams, field engineers, utilities and electricity consumers.
Why does it matter?
Operators need earlier visibility into abnormal conditions so high-risk assets can be identified and preventive action can be considered before failures escalate.</a:t>
            </a:r>
          </a:p>
        </p:txBody>
      </p:sp>
      <p:sp>
        <p:nvSpPr>
          <p:cNvPr id="4" name="TextBox 3"/>
          <p:cNvSpPr txBox="1"/>
          <p:nvPr/>
        </p:nvSpPr>
        <p:spPr>
          <a:xfrm>
            <a:off x="594360" y="6510528"/>
            <a:ext cx="10972800" cy="182880"/>
          </a:xfrm>
          <a:prstGeom prst="rect">
            <a:avLst/>
          </a:prstGeom>
          <a:noFill/>
        </p:spPr>
        <p:txBody>
          <a:bodyPr wrap="square">
            <a:spAutoFit/>
          </a:bodyPr>
          <a:lstStyle/>
          <a:p>
            <a:pPr algn="l"/>
            <a:r>
              <a:rPr sz="800" b="0">
                <a:solidFill>
                  <a:srgbClr val="4D5F54"/>
                </a:solidFill>
                <a:latin typeface="Aptos"/>
              </a:rPr>
              <a:t>NEXORA • AI-Powered Power Grid Intelligence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1"/>
        </a:solidFill>
        <a:effectLst/>
      </p:bgPr>
    </p:bg>
    <p:spTree>
      <p:nvGrpSpPr>
        <p:cNvPr id="1" name=""/>
        <p:cNvGrpSpPr/>
        <p:nvPr/>
      </p:nvGrpSpPr>
      <p:grpSpPr/>
      <p:sp>
        <p:nvSpPr>
          <p:cNvPr id="2" name="TextBox 1"/>
          <p:cNvSpPr txBox="1"/>
          <p:nvPr/>
        </p:nvSpPr>
        <p:spPr>
          <a:xfrm>
            <a:off x="594360" y="411480"/>
            <a:ext cx="10972800" cy="640080"/>
          </a:xfrm>
          <a:prstGeom prst="rect">
            <a:avLst/>
          </a:prstGeom>
          <a:noFill/>
        </p:spPr>
        <p:txBody>
          <a:bodyPr wrap="square">
            <a:spAutoFit/>
          </a:bodyPr>
          <a:lstStyle/>
          <a:p>
            <a:pPr algn="l"/>
            <a:r>
              <a:rPr sz="2800" b="1">
                <a:solidFill>
                  <a:srgbClr val="1B6741"/>
                </a:solidFill>
                <a:latin typeface="Aptos"/>
              </a:rPr>
              <a:t>Solution — NEXORA</a:t>
            </a:r>
          </a:p>
        </p:txBody>
      </p:sp>
      <p:sp>
        <p:nvSpPr>
          <p:cNvPr id="3" name="TextBox 2"/>
          <p:cNvSpPr txBox="1"/>
          <p:nvPr/>
        </p:nvSpPr>
        <p:spPr>
          <a:xfrm>
            <a:off x="731520" y="1234440"/>
            <a:ext cx="10789920" cy="1280160"/>
          </a:xfrm>
          <a:prstGeom prst="rect">
            <a:avLst/>
          </a:prstGeom>
          <a:noFill/>
        </p:spPr>
        <p:txBody>
          <a:bodyPr wrap="square">
            <a:spAutoFit/>
          </a:bodyPr>
          <a:lstStyle/>
          <a:p>
            <a:pPr algn="l"/>
            <a:r>
              <a:rPr sz="1900" b="0">
                <a:solidFill>
                  <a:srgbClr val="233029"/>
                </a:solidFill>
                <a:latin typeface="Aptos"/>
              </a:rPr>
              <a:t>NEXORA is an AI-powered grid intelligence platform that analyzes grid and equipment conditions to detect abnormalities, estimate outage and equipment-failure risk, assess asset health, generate alerts and provide preventive guidance.</a:t>
            </a:r>
          </a:p>
        </p:txBody>
      </p:sp>
      <p:sp>
        <p:nvSpPr>
          <p:cNvPr id="4" name="TextBox 3"/>
          <p:cNvSpPr txBox="1"/>
          <p:nvPr/>
        </p:nvSpPr>
        <p:spPr>
          <a:xfrm>
            <a:off x="4160520" y="2468880"/>
            <a:ext cx="3840480" cy="3383280"/>
          </a:xfrm>
          <a:prstGeom prst="rect">
            <a:avLst/>
          </a:prstGeom>
          <a:noFill/>
        </p:spPr>
        <p:txBody>
          <a:bodyPr wrap="square">
            <a:spAutoFit/>
          </a:bodyPr>
          <a:lstStyle/>
          <a:p>
            <a:pPr algn="ctr"/>
            <a:r>
              <a:rPr sz="2200" b="1">
                <a:solidFill>
                  <a:srgbClr val="1B6741"/>
                </a:solidFill>
                <a:latin typeface="Aptos"/>
              </a:rPr>
              <a:t>Monitor
↓
Detect
↓
Predict
↓
Assess
↓
Explain
↓
Recommend
↓
Display</a:t>
            </a:r>
          </a:p>
        </p:txBody>
      </p:sp>
      <p:sp>
        <p:nvSpPr>
          <p:cNvPr id="5" name="TextBox 4"/>
          <p:cNvSpPr txBox="1"/>
          <p:nvPr/>
        </p:nvSpPr>
        <p:spPr>
          <a:xfrm>
            <a:off x="594360" y="6510528"/>
            <a:ext cx="10972800" cy="182880"/>
          </a:xfrm>
          <a:prstGeom prst="rect">
            <a:avLst/>
          </a:prstGeom>
          <a:noFill/>
        </p:spPr>
        <p:txBody>
          <a:bodyPr wrap="square">
            <a:spAutoFit/>
          </a:bodyPr>
          <a:lstStyle/>
          <a:p>
            <a:pPr algn="l"/>
            <a:r>
              <a:rPr sz="800" b="0">
                <a:solidFill>
                  <a:srgbClr val="4D5F54"/>
                </a:solidFill>
                <a:latin typeface="Aptos"/>
              </a:rPr>
              <a:t>NEXORA • AI-Powered Power Grid Intelligence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1"/>
        </a:solidFill>
        <a:effectLst/>
      </p:bgPr>
    </p:bg>
    <p:spTree>
      <p:nvGrpSpPr>
        <p:cNvPr id="1" name=""/>
        <p:cNvGrpSpPr/>
        <p:nvPr/>
      </p:nvGrpSpPr>
      <p:grpSpPr/>
      <p:sp>
        <p:nvSpPr>
          <p:cNvPr id="2" name="TextBox 1"/>
          <p:cNvSpPr txBox="1"/>
          <p:nvPr/>
        </p:nvSpPr>
        <p:spPr>
          <a:xfrm>
            <a:off x="594360" y="411480"/>
            <a:ext cx="10972800" cy="640080"/>
          </a:xfrm>
          <a:prstGeom prst="rect">
            <a:avLst/>
          </a:prstGeom>
          <a:noFill/>
        </p:spPr>
        <p:txBody>
          <a:bodyPr wrap="square">
            <a:spAutoFit/>
          </a:bodyPr>
          <a:lstStyle/>
          <a:p>
            <a:pPr algn="l"/>
            <a:r>
              <a:rPr sz="2800" b="1">
                <a:solidFill>
                  <a:srgbClr val="1B6741"/>
                </a:solidFill>
                <a:latin typeface="Aptos"/>
              </a:rPr>
              <a:t>Architecture — How the System Works Technically</a:t>
            </a:r>
          </a:p>
        </p:txBody>
      </p:sp>
      <p:sp>
        <p:nvSpPr>
          <p:cNvPr id="3" name="TextBox 2"/>
          <p:cNvSpPr txBox="1"/>
          <p:nvPr/>
        </p:nvSpPr>
        <p:spPr>
          <a:xfrm>
            <a:off x="685800" y="1234440"/>
            <a:ext cx="4480560" cy="3931920"/>
          </a:xfrm>
          <a:prstGeom prst="rect">
            <a:avLst/>
          </a:prstGeom>
          <a:noFill/>
        </p:spPr>
        <p:txBody>
          <a:bodyPr wrap="square">
            <a:spAutoFit/>
          </a:bodyPr>
          <a:lstStyle/>
          <a:p>
            <a:pPr algn="l"/>
            <a:r>
              <a:rPr sz="1700" b="0">
                <a:solidFill>
                  <a:srgbClr val="233029"/>
                </a:solidFill>
                <a:latin typeface="Aptos"/>
              </a:rPr>
              <a:t>Frontend:
HTML • CSS • JavaScript
Backend:
Python • FastAPI
AI / ML:
Scikit-learn • Pandas • NumPy
Simulation:
Python-based simulated grid and equipment conditions</a:t>
            </a:r>
          </a:p>
        </p:txBody>
      </p:sp>
      <p:sp>
        <p:nvSpPr>
          <p:cNvPr id="4" name="TextBox 3"/>
          <p:cNvSpPr txBox="1"/>
          <p:nvPr/>
        </p:nvSpPr>
        <p:spPr>
          <a:xfrm>
            <a:off x="5486400" y="1234440"/>
            <a:ext cx="5669280" cy="4754880"/>
          </a:xfrm>
          <a:prstGeom prst="rect">
            <a:avLst/>
          </a:prstGeom>
          <a:noFill/>
        </p:spPr>
        <p:txBody>
          <a:bodyPr wrap="square">
            <a:spAutoFit/>
          </a:bodyPr>
          <a:lstStyle/>
          <a:p>
            <a:pPr algn="l"/>
            <a:r>
              <a:rPr sz="1600" b="1">
                <a:solidFill>
                  <a:srgbClr val="233029"/>
                </a:solidFill>
                <a:latin typeface="Aptos"/>
              </a:rPr>
              <a:t>System Flow:
Simulated Grid Data
       ↓
Data Processing
       ↓
AI / ML Analysis
       ↓
Outage + Failure + Anomaly Detection
       ↓
Risk &amp; Health Assessment
       ↓
AI Failure Advisor
       ↓
FastAPI API
       ↓
NEXORA Dashboard</a:t>
            </a:r>
          </a:p>
        </p:txBody>
      </p:sp>
      <p:sp>
        <p:nvSpPr>
          <p:cNvPr id="5" name="TextBox 4"/>
          <p:cNvSpPr txBox="1"/>
          <p:nvPr/>
        </p:nvSpPr>
        <p:spPr>
          <a:xfrm>
            <a:off x="594360" y="6510528"/>
            <a:ext cx="10972800" cy="182880"/>
          </a:xfrm>
          <a:prstGeom prst="rect">
            <a:avLst/>
          </a:prstGeom>
          <a:noFill/>
        </p:spPr>
        <p:txBody>
          <a:bodyPr wrap="square">
            <a:spAutoFit/>
          </a:bodyPr>
          <a:lstStyle/>
          <a:p>
            <a:pPr algn="l"/>
            <a:r>
              <a:rPr sz="800" b="0">
                <a:solidFill>
                  <a:srgbClr val="4D5F54"/>
                </a:solidFill>
                <a:latin typeface="Aptos"/>
              </a:rPr>
              <a:t>NEXORA • AI-Powered Power Grid Intelligence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1"/>
        </a:solidFill>
        <a:effectLst/>
      </p:bgPr>
    </p:bg>
    <p:spTree>
      <p:nvGrpSpPr>
        <p:cNvPr id="1" name=""/>
        <p:cNvGrpSpPr/>
        <p:nvPr/>
      </p:nvGrpSpPr>
      <p:grpSpPr/>
      <p:sp>
        <p:nvSpPr>
          <p:cNvPr id="2" name="TextBox 1"/>
          <p:cNvSpPr txBox="1"/>
          <p:nvPr/>
        </p:nvSpPr>
        <p:spPr>
          <a:xfrm>
            <a:off x="594360" y="411480"/>
            <a:ext cx="10972800" cy="640080"/>
          </a:xfrm>
          <a:prstGeom prst="rect">
            <a:avLst/>
          </a:prstGeom>
          <a:noFill/>
        </p:spPr>
        <p:txBody>
          <a:bodyPr wrap="square">
            <a:spAutoFit/>
          </a:bodyPr>
          <a:lstStyle/>
          <a:p>
            <a:pPr algn="l"/>
            <a:r>
              <a:rPr sz="2800" b="1">
                <a:solidFill>
                  <a:srgbClr val="1B6741"/>
                </a:solidFill>
                <a:latin typeface="Aptos"/>
              </a:rPr>
              <a:t>Demo / Key Feature — AI Failure Advisor</a:t>
            </a:r>
          </a:p>
        </p:txBody>
      </p:sp>
      <p:sp>
        <p:nvSpPr>
          <p:cNvPr id="3" name="TextBox 2"/>
          <p:cNvSpPr txBox="1"/>
          <p:nvPr/>
        </p:nvSpPr>
        <p:spPr>
          <a:xfrm>
            <a:off x="685800" y="1234440"/>
            <a:ext cx="5029200" cy="3840480"/>
          </a:xfrm>
          <a:prstGeom prst="rect">
            <a:avLst/>
          </a:prstGeom>
          <a:noFill/>
        </p:spPr>
        <p:txBody>
          <a:bodyPr wrap="square">
            <a:spAutoFit/>
          </a:bodyPr>
          <a:lstStyle/>
          <a:p>
            <a:pPr algn="l"/>
            <a:r>
              <a:rPr sz="1600" b="0">
                <a:solidFill>
                  <a:srgbClr val="233029"/>
                </a:solidFill>
                <a:latin typeface="Aptos"/>
              </a:rPr>
              <a:t>Demo scenario:
01  BASELINE
    Normal grid state
02  DEGRADE
    Start degrading-condition scenario
03  SELECT
    Choose Transformer T-201
04  ADVISE
    Open AI Failure Advisor</a:t>
            </a:r>
          </a:p>
        </p:txBody>
      </p:sp>
      <p:sp>
        <p:nvSpPr>
          <p:cNvPr id="4" name="TextBox 3"/>
          <p:cNvSpPr txBox="1"/>
          <p:nvPr/>
        </p:nvSpPr>
        <p:spPr>
          <a:xfrm>
            <a:off x="5897880" y="1234440"/>
            <a:ext cx="5303520" cy="4389120"/>
          </a:xfrm>
          <a:prstGeom prst="rect">
            <a:avLst/>
          </a:prstGeom>
          <a:noFill/>
        </p:spPr>
        <p:txBody>
          <a:bodyPr wrap="square">
            <a:spAutoFit/>
          </a:bodyPr>
          <a:lstStyle/>
          <a:p>
            <a:pPr algn="l"/>
            <a:r>
              <a:rPr sz="1600" b="0">
                <a:solidFill>
                  <a:srgbClr val="233029"/>
                </a:solidFill>
                <a:latin typeface="Aptos"/>
              </a:rPr>
              <a:t>Demonstrated T-201 state:
• Status: CRITICAL
• Failure Risk: 50%
• Health Score: 42/100
• Anomaly: 55%
• Estimated Risk Window: Within 24 hours
Advisor provides:
• Contributing factors
• Risk explanation
• Estimated risk window
• Preventive recommendations
• Historical trend information</a:t>
            </a:r>
          </a:p>
        </p:txBody>
      </p:sp>
      <p:sp>
        <p:nvSpPr>
          <p:cNvPr id="5" name="TextBox 4"/>
          <p:cNvSpPr txBox="1"/>
          <p:nvPr/>
        </p:nvSpPr>
        <p:spPr>
          <a:xfrm>
            <a:off x="594360" y="6510528"/>
            <a:ext cx="10972800" cy="182880"/>
          </a:xfrm>
          <a:prstGeom prst="rect">
            <a:avLst/>
          </a:prstGeom>
          <a:noFill/>
        </p:spPr>
        <p:txBody>
          <a:bodyPr wrap="square">
            <a:spAutoFit/>
          </a:bodyPr>
          <a:lstStyle/>
          <a:p>
            <a:pPr algn="l"/>
            <a:r>
              <a:rPr sz="800" b="0">
                <a:solidFill>
                  <a:srgbClr val="4D5F54"/>
                </a:solidFill>
                <a:latin typeface="Aptos"/>
              </a:rPr>
              <a:t>NEXORA • AI-Powered Power Grid Intelligence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1"/>
        </a:solidFill>
        <a:effectLst/>
      </p:bgPr>
    </p:bg>
    <p:spTree>
      <p:nvGrpSpPr>
        <p:cNvPr id="1" name=""/>
        <p:cNvGrpSpPr/>
        <p:nvPr/>
      </p:nvGrpSpPr>
      <p:grpSpPr/>
      <p:sp>
        <p:nvSpPr>
          <p:cNvPr id="2" name="TextBox 1"/>
          <p:cNvSpPr txBox="1"/>
          <p:nvPr/>
        </p:nvSpPr>
        <p:spPr>
          <a:xfrm>
            <a:off x="594360" y="411480"/>
            <a:ext cx="10972800" cy="640080"/>
          </a:xfrm>
          <a:prstGeom prst="rect">
            <a:avLst/>
          </a:prstGeom>
          <a:noFill/>
        </p:spPr>
        <p:txBody>
          <a:bodyPr wrap="square">
            <a:spAutoFit/>
          </a:bodyPr>
          <a:lstStyle/>
          <a:p>
            <a:pPr algn="l"/>
            <a:r>
              <a:rPr sz="2800" b="1">
                <a:solidFill>
                  <a:srgbClr val="1B6741"/>
                </a:solidFill>
                <a:latin typeface="Aptos"/>
              </a:rPr>
              <a:t>IBM Technologies — Specifically How We Used Them</a:t>
            </a:r>
          </a:p>
        </p:txBody>
      </p:sp>
      <p:sp>
        <p:nvSpPr>
          <p:cNvPr id="3" name="TextBox 2"/>
          <p:cNvSpPr txBox="1"/>
          <p:nvPr/>
        </p:nvSpPr>
        <p:spPr>
          <a:xfrm>
            <a:off x="777240" y="1280160"/>
            <a:ext cx="10698480" cy="4389120"/>
          </a:xfrm>
          <a:prstGeom prst="rect">
            <a:avLst/>
          </a:prstGeom>
          <a:noFill/>
        </p:spPr>
        <p:txBody>
          <a:bodyPr wrap="square">
            <a:spAutoFit/>
          </a:bodyPr>
          <a:lstStyle/>
          <a:p>
            <a:pPr algn="l"/>
            <a:r>
              <a:rPr sz="1800" b="0">
                <a:solidFill>
                  <a:srgbClr val="233029"/>
                </a:solidFill>
                <a:latin typeface="Aptos"/>
              </a:rPr>
              <a:t>IBM Bob IDE was used as the primary AI-assisted development environment for NEXORA.
• Repository opened and developed through IBM Bob IDE
• Initial backend and frontend implementation
• Simulation and ML component development
• AI Failure Advisor refinement
• Deployment-readiness improvements
• Local testing and verification
• Git/GitHub checkpointing and delivery</a:t>
            </a:r>
          </a:p>
        </p:txBody>
      </p:sp>
      <p:sp>
        <p:nvSpPr>
          <p:cNvPr id="4" name="TextBox 3"/>
          <p:cNvSpPr txBox="1"/>
          <p:nvPr/>
        </p:nvSpPr>
        <p:spPr>
          <a:xfrm>
            <a:off x="594360" y="6510528"/>
            <a:ext cx="10972800" cy="182880"/>
          </a:xfrm>
          <a:prstGeom prst="rect">
            <a:avLst/>
          </a:prstGeom>
          <a:noFill/>
        </p:spPr>
        <p:txBody>
          <a:bodyPr wrap="square">
            <a:spAutoFit/>
          </a:bodyPr>
          <a:lstStyle/>
          <a:p>
            <a:pPr algn="l"/>
            <a:r>
              <a:rPr sz="800" b="0">
                <a:solidFill>
                  <a:srgbClr val="4D5F54"/>
                </a:solidFill>
                <a:latin typeface="Aptos"/>
              </a:rPr>
              <a:t>NEXORA • AI-Powered Power Grid Intelligence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1"/>
        </a:solidFill>
        <a:effectLst/>
      </p:bgPr>
    </p:bg>
    <p:spTree>
      <p:nvGrpSpPr>
        <p:cNvPr id="1" name=""/>
        <p:cNvGrpSpPr/>
        <p:nvPr/>
      </p:nvGrpSpPr>
      <p:grpSpPr/>
      <p:sp>
        <p:nvSpPr>
          <p:cNvPr id="2" name="TextBox 1"/>
          <p:cNvSpPr txBox="1"/>
          <p:nvPr/>
        </p:nvSpPr>
        <p:spPr>
          <a:xfrm>
            <a:off x="594360" y="411480"/>
            <a:ext cx="10972800" cy="640080"/>
          </a:xfrm>
          <a:prstGeom prst="rect">
            <a:avLst/>
          </a:prstGeom>
          <a:noFill/>
        </p:spPr>
        <p:txBody>
          <a:bodyPr wrap="square">
            <a:spAutoFit/>
          </a:bodyPr>
          <a:lstStyle/>
          <a:p>
            <a:pPr algn="l"/>
            <a:r>
              <a:rPr sz="2800" b="1">
                <a:solidFill>
                  <a:srgbClr val="1B6741"/>
                </a:solidFill>
                <a:latin typeface="Aptos"/>
              </a:rPr>
              <a:t>Results / Impact — Working Proof of Concept</a:t>
            </a:r>
          </a:p>
        </p:txBody>
      </p:sp>
      <p:sp>
        <p:nvSpPr>
          <p:cNvPr id="3" name="TextBox 2"/>
          <p:cNvSpPr txBox="1"/>
          <p:nvPr/>
        </p:nvSpPr>
        <p:spPr>
          <a:xfrm>
            <a:off x="822960" y="1234440"/>
            <a:ext cx="10515600" cy="4297680"/>
          </a:xfrm>
          <a:prstGeom prst="rect">
            <a:avLst/>
          </a:prstGeom>
          <a:noFill/>
        </p:spPr>
        <p:txBody>
          <a:bodyPr wrap="square">
            <a:spAutoFit/>
          </a:bodyPr>
          <a:lstStyle/>
          <a:p>
            <a:pPr algn="l"/>
            <a:r>
              <a:rPr sz="1800" b="0">
                <a:solidFill>
                  <a:srgbClr val="233029"/>
                </a:solidFill>
                <a:latin typeface="Aptos"/>
              </a:rPr>
              <a:t>✓ Backend syntax check completed
✓ FastAPI launched successfully
✓ Dashboard loaded successfully
✓ API requests returned successfully
✓ Degrading scenario changed grid health
✓ Outage risk changed with degrading conditions
✓ Asset risk and alert counts changed
✓ Transformer T-201 reached a critical state
✓ AI Failure Advisor updated dynamically
✓ Recommendations, risk window and trends displayed</a:t>
            </a:r>
          </a:p>
        </p:txBody>
      </p:sp>
      <p:sp>
        <p:nvSpPr>
          <p:cNvPr id="4" name="TextBox 3"/>
          <p:cNvSpPr txBox="1"/>
          <p:nvPr/>
        </p:nvSpPr>
        <p:spPr>
          <a:xfrm>
            <a:off x="1280160" y="5257800"/>
            <a:ext cx="9601200" cy="777240"/>
          </a:xfrm>
          <a:prstGeom prst="rect">
            <a:avLst/>
          </a:prstGeom>
          <a:noFill/>
        </p:spPr>
        <p:txBody>
          <a:bodyPr wrap="square">
            <a:spAutoFit/>
          </a:bodyPr>
          <a:lstStyle/>
          <a:p>
            <a:pPr algn="ctr"/>
            <a:r>
              <a:rPr sz="1700" b="1">
                <a:solidFill>
                  <a:srgbClr val="1B6741"/>
                </a:solidFill>
                <a:latin typeface="Aptos"/>
              </a:rPr>
              <a:t>Demonstrated impact:
NEXORA converts changing operating conditions into understandable risk signals, explanations and preventive actions.</a:t>
            </a:r>
          </a:p>
        </p:txBody>
      </p:sp>
      <p:sp>
        <p:nvSpPr>
          <p:cNvPr id="5" name="TextBox 4"/>
          <p:cNvSpPr txBox="1"/>
          <p:nvPr/>
        </p:nvSpPr>
        <p:spPr>
          <a:xfrm>
            <a:off x="594360" y="6510528"/>
            <a:ext cx="10972800" cy="182880"/>
          </a:xfrm>
          <a:prstGeom prst="rect">
            <a:avLst/>
          </a:prstGeom>
          <a:noFill/>
        </p:spPr>
        <p:txBody>
          <a:bodyPr wrap="square">
            <a:spAutoFit/>
          </a:bodyPr>
          <a:lstStyle/>
          <a:p>
            <a:pPr algn="l"/>
            <a:r>
              <a:rPr sz="800" b="0">
                <a:solidFill>
                  <a:srgbClr val="4D5F54"/>
                </a:solidFill>
                <a:latin typeface="Aptos"/>
              </a:rPr>
              <a:t>NEXORA • AI-Powered Power Grid Intelligence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1"/>
        </a:solidFill>
        <a:effectLst/>
      </p:bgPr>
    </p:bg>
    <p:spTree>
      <p:nvGrpSpPr>
        <p:cNvPr id="1" name=""/>
        <p:cNvGrpSpPr/>
        <p:nvPr/>
      </p:nvGrpSpPr>
      <p:grpSpPr/>
      <p:sp>
        <p:nvSpPr>
          <p:cNvPr id="2" name="TextBox 1"/>
          <p:cNvSpPr txBox="1"/>
          <p:nvPr/>
        </p:nvSpPr>
        <p:spPr>
          <a:xfrm>
            <a:off x="594360" y="411480"/>
            <a:ext cx="10972800" cy="640080"/>
          </a:xfrm>
          <a:prstGeom prst="rect">
            <a:avLst/>
          </a:prstGeom>
          <a:noFill/>
        </p:spPr>
        <p:txBody>
          <a:bodyPr wrap="square">
            <a:spAutoFit/>
          </a:bodyPr>
          <a:lstStyle/>
          <a:p>
            <a:pPr algn="l"/>
            <a:r>
              <a:rPr sz="2800" b="1">
                <a:solidFill>
                  <a:srgbClr val="1B6741"/>
                </a:solidFill>
                <a:latin typeface="Aptos"/>
              </a:rPr>
              <a:t>Team — NEXORA</a:t>
            </a:r>
          </a:p>
        </p:txBody>
      </p:sp>
      <p:sp>
        <p:nvSpPr>
          <p:cNvPr id="3" name="TextBox 2"/>
          <p:cNvSpPr txBox="1"/>
          <p:nvPr/>
        </p:nvSpPr>
        <p:spPr>
          <a:xfrm>
            <a:off x="822960" y="1188720"/>
            <a:ext cx="6400800" cy="5029200"/>
          </a:xfrm>
          <a:prstGeom prst="rect">
            <a:avLst/>
          </a:prstGeom>
          <a:noFill/>
        </p:spPr>
        <p:txBody>
          <a:bodyPr wrap="square">
            <a:spAutoFit/>
          </a:bodyPr>
          <a:lstStyle/>
          <a:p>
            <a:pPr algn="l"/>
            <a:r>
              <a:rPr sz="1700" b="0">
                <a:solidFill>
                  <a:srgbClr val="233029"/>
                </a:solidFill>
                <a:latin typeface="Aptos"/>
              </a:rPr>
              <a:t>Meet Tanti
Team Lead
• Project direction
• Backend / AI integration
• Testing
• Deployment
Kush Patel
• Research
• Development
• Testing
Dhairya Soni
• Frontend / Dashboard
• UI / UX
• Testing
Aahan Soni
• Research
• Validation
• Testing
• Presentation support</a:t>
            </a:r>
          </a:p>
        </p:txBody>
      </p:sp>
      <p:sp>
        <p:nvSpPr>
          <p:cNvPr id="4" name="TextBox 3"/>
          <p:cNvSpPr txBox="1"/>
          <p:nvPr/>
        </p:nvSpPr>
        <p:spPr>
          <a:xfrm>
            <a:off x="7315200" y="1417320"/>
            <a:ext cx="4206240" cy="3474720"/>
          </a:xfrm>
          <a:prstGeom prst="rect">
            <a:avLst/>
          </a:prstGeom>
          <a:noFill/>
        </p:spPr>
        <p:txBody>
          <a:bodyPr wrap="square">
            <a:spAutoFit/>
          </a:bodyPr>
          <a:lstStyle/>
          <a:p>
            <a:pPr algn="l"/>
            <a:r>
              <a:rPr sz="1400" b="0">
                <a:solidFill>
                  <a:srgbClr val="233029"/>
                </a:solidFill>
                <a:latin typeface="Aptos"/>
              </a:rPr>
              <a:t>Project Links
GitHub Repository:
https://github.com/meett9668-boop/bob-ai-hackathon--NEXORA-
Live Demo:
https://nexora-grid-intelligence.vercel.app
Demo Video:
https://youtu.be/cTt_xOYFxTc</a:t>
            </a:r>
          </a:p>
        </p:txBody>
      </p:sp>
      <p:sp>
        <p:nvSpPr>
          <p:cNvPr id="5" name="TextBox 4"/>
          <p:cNvSpPr txBox="1"/>
          <p:nvPr/>
        </p:nvSpPr>
        <p:spPr>
          <a:xfrm>
            <a:off x="594360" y="6510528"/>
            <a:ext cx="10972800" cy="182880"/>
          </a:xfrm>
          <a:prstGeom prst="rect">
            <a:avLst/>
          </a:prstGeom>
          <a:noFill/>
        </p:spPr>
        <p:txBody>
          <a:bodyPr wrap="square">
            <a:spAutoFit/>
          </a:bodyPr>
          <a:lstStyle/>
          <a:p>
            <a:pPr algn="l"/>
            <a:r>
              <a:rPr sz="800" b="0">
                <a:solidFill>
                  <a:srgbClr val="4D5F54"/>
                </a:solidFill>
                <a:latin typeface="Aptos"/>
              </a:rPr>
              <a:t>NEXORA • AI-Powered Power Grid Intelligence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